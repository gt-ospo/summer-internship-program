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80" r:id="rId4"/>
    <p:sldMasterId id="2147483683" r:id="rId5"/>
    <p:sldMasterId id="2147483696" r:id="rId6"/>
  </p:sldMasterIdLst>
  <p:notesMasterIdLst>
    <p:notesMasterId r:id="rId8"/>
  </p:notesMasterIdLst>
  <p:handoutMasterIdLst>
    <p:handoutMasterId r:id="rId9"/>
  </p:handoutMasterIdLst>
  <p:sldIdLst>
    <p:sldId id="261" r:id="rId7"/>
  </p:sldIdLst>
  <p:sldSz cx="43891200" cy="32918400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" panose="02000000000000000000" pitchFamily="2" charset="0"/>
      <p:regular r:id="rId14"/>
      <p:bold r:id="rId15"/>
      <p:italic r:id="rId16"/>
      <p:boldItalic r:id="rId17"/>
    </p:embeddedFont>
    <p:embeddedFont>
      <p:font typeface="Roboto Slab" pitchFamily="2" charset="0"/>
      <p:regular r:id="rId18"/>
      <p:bold r:id="rId19"/>
    </p:embeddedFont>
  </p:embeddedFontLst>
  <p:defaultTextStyle>
    <a:defPPr>
      <a:defRPr lang="en-US"/>
    </a:defPPr>
    <a:lvl1pPr marL="0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1843430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6966AFC2-AA3C-4984-9260-21377E006CA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10" userDrawn="1">
          <p15:clr>
            <a:srgbClr val="A4A3A4"/>
          </p15:clr>
        </p15:guide>
        <p15:guide id="2" pos="8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810021-E367-C34E-455C-D8C35E9051A1}" name="Bandla, Saisruthi" initials="SB" userId="S::sbandla3@gatech.edu::92989040-ad01-4809-9025-217c11f03e0e" providerId="AD"/>
  <p188:author id="{D3433233-052C-4422-3831-609E5F09EB98}" name="Murugan, Janani K" initials="" userId="S::jmurugan6@gatech.edu::209ded19-0c88-4f1d-941a-3a924a9e1a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6D6"/>
    <a:srgbClr val="E6E8E4"/>
    <a:srgbClr val="FFFDF4"/>
    <a:srgbClr val="003057"/>
    <a:srgbClr val="857437"/>
    <a:srgbClr val="A7934B"/>
    <a:srgbClr val="262626"/>
    <a:srgbClr val="EEB2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FE9FE-B568-40A2-8680-DCD00A5C03EC}" v="722" dt="2025-07-31T04:49:31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24" d="100"/>
          <a:sy n="24" d="100"/>
        </p:scale>
        <p:origin x="2024" y="240"/>
      </p:cViewPr>
      <p:guideLst>
        <p:guide orient="horz" pos="3710"/>
        <p:guide pos="8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2.fntdata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A6E295-2078-3A4C-9B3B-128821A974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3100D-CACA-0F41-B537-339726C6A5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7CCEE-F6A5-9F4C-8CE3-50501077053A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8C585-FF88-2E4D-AADE-9C9529D2F7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F8045-3A37-824A-8710-57C502BDEF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57D50-C692-A448-91EE-4B0FAD320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93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5CD92-6214-4204-9D21-33B6D458A101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1ABA5-B57D-4FEF-822B-287370BFC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09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1ABA5-B57D-4FEF-822B-287370BFCA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80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40463" y="5516054"/>
            <a:ext cx="24465283" cy="1269067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17280"/>
              </a:lnSpc>
              <a:defRPr sz="15120" b="0" cap="none" spc="0" baseline="0">
                <a:solidFill>
                  <a:srgbClr val="003057"/>
                </a:solidFill>
                <a:latin typeface="Roboto Slab" pitchFamily="2" charset="0"/>
                <a:ea typeface="Roboto Slab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40457" y="18206727"/>
            <a:ext cx="24465287" cy="80873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12960"/>
              </a:lnSpc>
              <a:buNone/>
              <a:defRPr sz="648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703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937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172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406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875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25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5600-2DCC-EB44-9203-121C72C9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33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E5600-2DCC-EB44-9203-121C72C9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1505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4575" y="5834318"/>
            <a:ext cx="20215271" cy="202831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311360" y="5834318"/>
            <a:ext cx="20208240" cy="202831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F72E-E074-E741-8514-3417AC9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52637-104D-064E-9B91-0BC72B6E1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4C3EF-E136-164D-954C-112EAD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9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5" y="5928542"/>
            <a:ext cx="20223479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5" y="9977559"/>
            <a:ext cx="20223479" cy="161398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5928542"/>
            <a:ext cx="20299680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9977559"/>
            <a:ext cx="20299680" cy="161398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79E3B-E843-6343-9ECC-916F6A2E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460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5170-396F-CE4F-A0AB-300CE970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6F2CA-2DD1-AF41-91EF-4D055700C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35E81-A1AE-8442-89DE-148AC4FC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583BD-E195-8D45-B88C-3F15BB70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2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02ABE-49F8-8E43-8B96-1F432917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0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6" y="2194560"/>
            <a:ext cx="1415796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9567" y="2194565"/>
            <a:ext cx="26990039" cy="2593848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6" y="10919278"/>
            <a:ext cx="14157961" cy="1725186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ABCA5-3B76-9E47-892E-A475FC83C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9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6" y="2194560"/>
            <a:ext cx="1415796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529567" y="2194565"/>
            <a:ext cx="26990039" cy="23922883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6" y="10919280"/>
            <a:ext cx="14157961" cy="1519817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10CDF-1139-2249-8F5E-3E7043CC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50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86C1-1209-CD40-86E4-C72B7974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57BF9-8D1A-FD41-A037-BF729754D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231DA-AB5C-C240-9332-9CC3D46A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AB74-A3C5-CF45-A5A3-124A9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3F40-6572-9341-AE1A-0342450A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38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A8079-4F60-D34B-96A4-C32E3C6A4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3055564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13FC5-8FDB-D640-8F18-46D09DD7F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71604" y="1752600"/>
            <a:ext cx="31683960" cy="2789682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9F9D1-30A5-3C44-9E01-F570121C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C5DF8-E50D-1745-97C5-A23C0E51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D20E1-9670-8A49-9442-60CC2307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BEFA-1B24-BD40-967B-22409382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28C1E-32D8-CF48-A92C-E6AC112D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FBA1A-F7CC-514B-BEB5-104BA2E0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1CD0E1A-EFF5-9943-8AA6-521A2B23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3989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4575" y="5834318"/>
            <a:ext cx="20215271" cy="202831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311360" y="5834318"/>
            <a:ext cx="20208240" cy="202831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BF72E-E074-E741-8514-3417AC9D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4C3EF-E136-164D-954C-112EADD9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64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5" y="5928542"/>
            <a:ext cx="20223479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5" y="9977559"/>
            <a:ext cx="20223479" cy="161398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5928542"/>
            <a:ext cx="20299680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9977559"/>
            <a:ext cx="20299680" cy="161398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9775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BD322-BC93-4244-92C5-7651A797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D151B-D611-8446-9323-A31F4308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19FCA3D-219A-9547-A7A7-4EB9BE7D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05746-5DE4-07B1-5611-4EEBAF38DE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2" y="6841932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03F001E6-D6D1-A396-EE07-7790621213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577020" y="6841932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2BD7855-1EA6-1102-5122-4BF617ED2D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841306" y="6841932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3DB0072-B1E4-2B67-CD64-AFD0CADC50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71602" y="18106044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12EFAB6-9D79-46A4-1400-FA689BD183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577020" y="18106044"/>
            <a:ext cx="11068088" cy="9992904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8E2A34E-676C-226E-E8A6-42635E9CC1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5841306" y="18106044"/>
            <a:ext cx="11068088" cy="999290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71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AE419-AE08-F348-87A6-E9445B33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0AFCF-7504-9244-8529-F384A6BD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53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6" y="2194560"/>
            <a:ext cx="1415796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2419" y="2194565"/>
            <a:ext cx="25807187" cy="2593848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6" y="10919278"/>
            <a:ext cx="14157961" cy="1725186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A470E-5CA9-A545-B98E-1EFAA05E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5A757-8D62-3444-9BDB-1CB584B7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45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6" y="2194560"/>
            <a:ext cx="14157961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611131" y="2194565"/>
            <a:ext cx="25908473" cy="23922883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6" y="10919280"/>
            <a:ext cx="14157961" cy="1519817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8F2-DDA7-354F-9FEA-A07E773A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F2438-4A98-5A4C-9057-FC3F0CBC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496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AD69-3205-BCCD-4E2D-E72B1D3B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0D675-7591-9D83-10A1-2FEED657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7773C-2F41-C6E1-AAB5-9601AB5720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169B0B5-D05E-C4AE-458A-3F4627989B4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371602" y="6888480"/>
            <a:ext cx="27037667" cy="219456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A2623B-F27F-1862-1049-4ADBDCD76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220797" y="6888480"/>
            <a:ext cx="13298803" cy="16405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9837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0444" y="4142232"/>
            <a:ext cx="18598896" cy="2545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798528" y="4142232"/>
            <a:ext cx="18598896" cy="254568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9EFE626-861E-D6BB-DA2A-F5331CAF06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8484" y="409848"/>
            <a:ext cx="2633472" cy="438912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396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F25D3CAB-F859-4DF1-7F76-9E2F771770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" y="4990997"/>
            <a:ext cx="5870448" cy="78577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/>
            </a:lvl1pPr>
            <a:lvl2pPr marL="1645920" indent="0">
              <a:buNone/>
              <a:defRPr sz="3600"/>
            </a:lvl2pPr>
            <a:lvl3pPr marL="3291840" indent="0">
              <a:buNone/>
              <a:defRPr sz="360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103B3E-E89F-0DCA-F31F-B532DE03CED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C261A32-F9A3-71BB-A5B1-00B3D502AE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8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98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5" r:id="rId2"/>
  </p:sldLayoutIdLst>
  <p:txStyles>
    <p:titleStyle>
      <a:lvl1pPr algn="l" defTabSz="1234440" rtl="0" eaLnBrk="1" latinLnBrk="0" hangingPunct="1">
        <a:spcBef>
          <a:spcPct val="0"/>
        </a:spcBef>
        <a:buNone/>
        <a:defRPr sz="1296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925830" indent="-925830" algn="l" defTabSz="1234440" rtl="0" eaLnBrk="1" latinLnBrk="0" hangingPunct="1">
        <a:spcBef>
          <a:spcPct val="20000"/>
        </a:spcBef>
        <a:buFont typeface="Arial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005967" indent="-771527" algn="l" defTabSz="1234440" rtl="0" eaLnBrk="1" latinLnBrk="0" hangingPunct="1">
        <a:spcBef>
          <a:spcPct val="20000"/>
        </a:spcBef>
        <a:buFont typeface="Arial"/>
        <a:buChar char="–"/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indent="-617220" algn="l" defTabSz="1234440" rtl="0" eaLnBrk="1" latinLnBrk="0" hangingPunct="1">
        <a:spcBef>
          <a:spcPct val="20000"/>
        </a:spcBef>
        <a:buFont typeface="Arial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indent="-617220" algn="l" defTabSz="1234440" rtl="0" eaLnBrk="1" latinLnBrk="0" hangingPunct="1">
        <a:spcBef>
          <a:spcPct val="20000"/>
        </a:spcBef>
        <a:buFont typeface="Arial"/>
        <a:buChar char="–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554980" indent="-617220" algn="l" defTabSz="1234440" rtl="0" eaLnBrk="1" latinLnBrk="0" hangingPunct="1">
        <a:spcBef>
          <a:spcPct val="20000"/>
        </a:spcBef>
        <a:buFont typeface="Arial"/>
        <a:buChar char="»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789420" indent="-617220" algn="l" defTabSz="1234440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023860" indent="-617220" algn="l" defTabSz="1234440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258300" indent="-617220" algn="l" defTabSz="1234440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492740" indent="-617220" algn="l" defTabSz="1234440" rtl="0" eaLnBrk="1" latinLnBrk="0" hangingPunct="1">
        <a:spcBef>
          <a:spcPct val="20000"/>
        </a:spcBef>
        <a:buFont typeface="Arial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2pPr>
      <a:lvl3pPr marL="246888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3pPr>
      <a:lvl4pPr marL="370332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17220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740664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864108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9875520" algn="l" defTabSz="123444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5834328"/>
            <a:ext cx="41148000" cy="20283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088-FD5F-6E47-B5E9-B42B8CA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0" y="26117450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554A5-B4DD-7045-B047-B7DA6D1E70A4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8B9A-12D6-EA40-AB29-6918054B5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254156" y="26117450"/>
            <a:ext cx="21389929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644080" y="26117450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8206-0642-9F48-9727-6B519CB28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3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2960" b="0" i="0" kern="1200" baseline="0">
          <a:solidFill>
            <a:srgbClr val="A7934B"/>
          </a:solidFill>
          <a:latin typeface="Roboto Slab" pitchFamily="2" charset="0"/>
          <a:ea typeface="Roboto Slab" pitchFamily="2" charset="0"/>
          <a:cs typeface="Roboto" panose="02000000000000000000" pitchFamily="2" charset="0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63468"/>
            <a:ext cx="41148000" cy="4870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2" y="5834328"/>
            <a:ext cx="41147996" cy="20283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088-FD5F-6E47-B5E9-B42B8CA51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69985" y="29676194"/>
            <a:ext cx="5567954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2" y="29676194"/>
            <a:ext cx="3299677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3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</p:sldLayoutIdLst>
  <p:hf hdr="0" ftr="0" dt="0"/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2960" b="1" i="0" kern="1200" baseline="0">
          <a:solidFill>
            <a:srgbClr val="A7934B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864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960" b="0" kern="1200">
          <a:solidFill>
            <a:srgbClr val="003057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26" Type="http://schemas.openxmlformats.org/officeDocument/2006/relationships/image" Target="../media/image22.png"/><Relationship Id="rId3" Type="http://schemas.openxmlformats.org/officeDocument/2006/relationships/slideLayout" Target="../slideLayouts/slideLayout2.xml"/><Relationship Id="rId21" Type="http://schemas.openxmlformats.org/officeDocument/2006/relationships/image" Target="../media/image17.svg"/><Relationship Id="rId34" Type="http://schemas.openxmlformats.org/officeDocument/2006/relationships/image" Target="../media/image30.png"/><Relationship Id="rId7" Type="http://schemas.openxmlformats.org/officeDocument/2006/relationships/hyperlink" Target="mailto:sbandla3@gatech.edu" TargetMode="External"/><Relationship Id="rId12" Type="http://schemas.openxmlformats.org/officeDocument/2006/relationships/image" Target="../media/image8.png"/><Relationship Id="rId17" Type="http://schemas.openxmlformats.org/officeDocument/2006/relationships/image" Target="../media/image13.svg"/><Relationship Id="rId25" Type="http://schemas.openxmlformats.org/officeDocument/2006/relationships/image" Target="../media/image21.svg"/><Relationship Id="rId33" Type="http://schemas.openxmlformats.org/officeDocument/2006/relationships/image" Target="../media/image29.jpeg"/><Relationship Id="rId2" Type="http://schemas.openxmlformats.org/officeDocument/2006/relationships/video" Target="../media/media1.mp4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29" Type="http://schemas.openxmlformats.org/officeDocument/2006/relationships/image" Target="../media/image25.svg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5" Type="http://schemas.openxmlformats.org/officeDocument/2006/relationships/image" Target="../media/image2.png"/><Relationship Id="rId15" Type="http://schemas.openxmlformats.org/officeDocument/2006/relationships/image" Target="../media/image11.svg"/><Relationship Id="rId23" Type="http://schemas.openxmlformats.org/officeDocument/2006/relationships/image" Target="../media/image19.svg"/><Relationship Id="rId28" Type="http://schemas.openxmlformats.org/officeDocument/2006/relationships/image" Target="../media/image24.png"/><Relationship Id="rId10" Type="http://schemas.openxmlformats.org/officeDocument/2006/relationships/image" Target="../media/image6.png"/><Relationship Id="rId19" Type="http://schemas.openxmlformats.org/officeDocument/2006/relationships/image" Target="../media/image15.svg"/><Relationship Id="rId31" Type="http://schemas.openxmlformats.org/officeDocument/2006/relationships/image" Target="../media/image27.sv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Relationship Id="rId27" Type="http://schemas.openxmlformats.org/officeDocument/2006/relationships/image" Target="../media/image23.svg"/><Relationship Id="rId30" Type="http://schemas.openxmlformats.org/officeDocument/2006/relationships/image" Target="../media/image26.png"/><Relationship Id="rId35" Type="http://schemas.openxmlformats.org/officeDocument/2006/relationships/image" Target="../media/image31.png"/><Relationship Id="rId8" Type="http://schemas.openxmlformats.org/officeDocument/2006/relationships/hyperlink" Target="mailto:janani@gatech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050E4-C8D7-BEF5-C683-90756B02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udio-fixed">
            <a:hlinkClick r:id="" action="ppaction://media"/>
            <a:extLst>
              <a:ext uri="{FF2B5EF4-FFF2-40B4-BE49-F238E27FC236}">
                <a16:creationId xmlns:a16="http://schemas.microsoft.com/office/drawing/2014/main" id="{B59EB04D-0774-D7C7-8426-1667CA063F6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24177" r="22316"/>
          <a:stretch>
            <a:fillRect/>
          </a:stretch>
        </p:blipFill>
        <p:spPr>
          <a:xfrm>
            <a:off x="1431416" y="22315981"/>
            <a:ext cx="5447917" cy="572709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2A472C8-EAF0-8353-492D-66E171C50DB4}"/>
              </a:ext>
            </a:extLst>
          </p:cNvPr>
          <p:cNvSpPr/>
          <p:nvPr/>
        </p:nvSpPr>
        <p:spPr>
          <a:xfrm>
            <a:off x="33865457" y="27146499"/>
            <a:ext cx="10025741" cy="5658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93412-5383-6EC9-6E68-F32902FD2510}"/>
              </a:ext>
            </a:extLst>
          </p:cNvPr>
          <p:cNvSpPr/>
          <p:nvPr/>
        </p:nvSpPr>
        <p:spPr>
          <a:xfrm>
            <a:off x="-6" y="-73138"/>
            <a:ext cx="43891204" cy="4257222"/>
          </a:xfrm>
          <a:prstGeom prst="rect">
            <a:avLst/>
          </a:prstGeom>
          <a:solidFill>
            <a:srgbClr val="0030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129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131756-B7C6-7F37-C5BC-B3887C916FD4}"/>
              </a:ext>
            </a:extLst>
          </p:cNvPr>
          <p:cNvSpPr txBox="1"/>
          <p:nvPr/>
        </p:nvSpPr>
        <p:spPr>
          <a:xfrm>
            <a:off x="5913470" y="441778"/>
            <a:ext cx="32164016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9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MFEM-Based Tokamak Equilibrium Solver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85004D-DAC0-7241-394A-4BEBE59F5894}"/>
              </a:ext>
            </a:extLst>
          </p:cNvPr>
          <p:cNvSpPr txBox="1"/>
          <p:nvPr/>
        </p:nvSpPr>
        <p:spPr>
          <a:xfrm>
            <a:off x="5863588" y="2192022"/>
            <a:ext cx="32164016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Students: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5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Saisruthi Bandla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(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sbandla3@gatech.edu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)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sz="5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Janani Murugan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(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janani@gatech.edu</a:t>
            </a:r>
            <a:r>
              <a:rPr lang="en-US" sz="45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), 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Alex de Magalhaes</a:t>
            </a:r>
            <a:endParaRPr lang="en-US" sz="4500">
              <a:solidFill>
                <a:schemeClr val="bg1"/>
              </a:solidFill>
              <a:latin typeface="Roboto"/>
              <a:ea typeface="Roboto"/>
              <a:cs typeface="Roboto"/>
            </a:endParaRPr>
          </a:p>
          <a:p>
            <a:pPr algn="ctr"/>
            <a:r>
              <a:rPr lang="en-US" sz="5000" b="1">
                <a:solidFill>
                  <a:schemeClr val="bg1"/>
                </a:solidFill>
                <a:latin typeface="Roboto"/>
                <a:ea typeface="Roboto"/>
                <a:cs typeface="Roboto"/>
              </a:rPr>
              <a:t>Mentors: </a:t>
            </a:r>
            <a:r>
              <a:rPr lang="en-US" sz="5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Qi Tang, Assistant Professor at CSE</a:t>
            </a:r>
          </a:p>
        </p:txBody>
      </p:sp>
      <p:pic>
        <p:nvPicPr>
          <p:cNvPr id="34" name="Picture 33" descr="A black and white logo&#10;&#10;Description automatically generated">
            <a:extLst>
              <a:ext uri="{FF2B5EF4-FFF2-40B4-BE49-F238E27FC236}">
                <a16:creationId xmlns:a16="http://schemas.microsoft.com/office/drawing/2014/main" id="{2120B96E-CA8F-61A0-2F90-DFA9E48EB18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192" t="3738" r="5064" b="-2402"/>
          <a:stretch/>
        </p:blipFill>
        <p:spPr>
          <a:xfrm>
            <a:off x="375073" y="89748"/>
            <a:ext cx="7560601" cy="1933293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17B8588B-6A25-3901-B02D-29159CE8EE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60655" y="5979989"/>
            <a:ext cx="4071030" cy="6495556"/>
          </a:xfrm>
          <a:prstGeom prst="rect">
            <a:avLst/>
          </a:prstGeom>
        </p:spPr>
      </p:pic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96CC68C-5FC7-8FDF-DEE7-801C3155CAA6}"/>
              </a:ext>
            </a:extLst>
          </p:cNvPr>
          <p:cNvSpPr/>
          <p:nvPr/>
        </p:nvSpPr>
        <p:spPr>
          <a:xfrm>
            <a:off x="12975053" y="4753635"/>
            <a:ext cx="30280954" cy="1290221"/>
          </a:xfrm>
          <a:prstGeom prst="roundRect">
            <a:avLst/>
          </a:prstGeom>
          <a:solidFill>
            <a:srgbClr val="BFB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Project Goal: Develop a </a:t>
            </a:r>
            <a:r>
              <a:rPr lang="en-US" sz="4400" b="1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free boundary</a:t>
            </a:r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 tokamak </a:t>
            </a:r>
            <a:r>
              <a:rPr lang="en-US" sz="4400" b="1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equilibrium</a:t>
            </a:r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 solver for the magnetic confinement fusion community</a:t>
            </a:r>
          </a:p>
        </p:txBody>
      </p:sp>
      <p:pic>
        <p:nvPicPr>
          <p:cNvPr id="121" name="Picture 120" descr="ITER Tokamak Fusion Reactor - Fusion for Energy">
            <a:extLst>
              <a:ext uri="{FF2B5EF4-FFF2-40B4-BE49-F238E27FC236}">
                <a16:creationId xmlns:a16="http://schemas.microsoft.com/office/drawing/2014/main" id="{A69AEC5A-7C9D-1605-8977-59625BAFE6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16533" y="6863508"/>
            <a:ext cx="6095061" cy="5218431"/>
          </a:xfrm>
          <a:prstGeom prst="rect">
            <a:avLst/>
          </a:prstGeom>
        </p:spPr>
      </p:pic>
      <p:pic>
        <p:nvPicPr>
          <p:cNvPr id="122" name="Picture 2" descr="A black and white image of a circle&#10;&#10;AI-generated content may be incorrect.">
            <a:extLst>
              <a:ext uri="{FF2B5EF4-FFF2-40B4-BE49-F238E27FC236}">
                <a16:creationId xmlns:a16="http://schemas.microsoft.com/office/drawing/2014/main" id="{62CDD2EB-3E65-FC48-AA65-756A24241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2492" y="8473431"/>
            <a:ext cx="4721519" cy="2449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D87F42F-3189-4689-2629-870362E0CD03}"/>
              </a:ext>
            </a:extLst>
          </p:cNvPr>
          <p:cNvSpPr/>
          <p:nvPr/>
        </p:nvSpPr>
        <p:spPr>
          <a:xfrm>
            <a:off x="28603521" y="15159121"/>
            <a:ext cx="14147257" cy="28674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Stabilize plasma and avoid contact with walls</a:t>
            </a:r>
            <a:endParaRPr lang="en-US" sz="380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marL="1028700" indent="-1028700" algn="ctr" defTabSz="3291840">
              <a:buFont typeface="Wingdings" panose="05000000000000000000" pitchFamily="2" charset="2"/>
              <a:buChar char="v"/>
            </a:pPr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Modeled by the Grad–</a:t>
            </a:r>
            <a:r>
              <a:rPr lang="en-US" sz="3600" err="1">
                <a:solidFill>
                  <a:srgbClr val="003057"/>
                </a:solidFill>
                <a:latin typeface="Roboto"/>
                <a:ea typeface="Roboto"/>
                <a:cs typeface="Roboto"/>
              </a:rPr>
              <a:t>Shafranov</a:t>
            </a:r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 (GS) equation, which describes magnetohydrodynamic equilibria in axisymmetric, toroidal plasmas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1945857-678D-79BE-6AAB-DF1ED31FB2A6}"/>
              </a:ext>
            </a:extLst>
          </p:cNvPr>
          <p:cNvSpPr/>
          <p:nvPr/>
        </p:nvSpPr>
        <p:spPr>
          <a:xfrm>
            <a:off x="13080355" y="15159121"/>
            <a:ext cx="13542112" cy="26120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Unknown plasma shape &amp; boundary conditions</a:t>
            </a:r>
          </a:p>
          <a:p>
            <a:pPr marL="1028700" indent="-1028700" algn="ctr" defTabSz="3291840">
              <a:buFont typeface="Wingdings" panose="05000000000000000000" pitchFamily="2" charset="2"/>
              <a:buChar char="v"/>
            </a:pPr>
            <a:r>
              <a:rPr lang="en-US" sz="38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Modeled using MFEM (mfem.org), an open-source finite element library for solving partial differential equations on unstructured and adaptive meshes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9DD3A00-9531-9208-A131-D1AAEAD03765}"/>
              </a:ext>
            </a:extLst>
          </p:cNvPr>
          <p:cNvSpPr/>
          <p:nvPr/>
        </p:nvSpPr>
        <p:spPr>
          <a:xfrm>
            <a:off x="13694385" y="12082448"/>
            <a:ext cx="7184800" cy="102098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 i="1">
                <a:solidFill>
                  <a:srgbClr val="003057"/>
                </a:solidFill>
                <a:latin typeface="Roboto"/>
                <a:ea typeface="Roboto"/>
                <a:cs typeface="Roboto"/>
              </a:rPr>
              <a:t>Tokamak: Device for magnetic confinement fusion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07B57A94-EE0D-9F75-93E7-1939087DDD58}"/>
              </a:ext>
            </a:extLst>
          </p:cNvPr>
          <p:cNvSpPr/>
          <p:nvPr/>
        </p:nvSpPr>
        <p:spPr>
          <a:xfrm>
            <a:off x="24186308" y="12005305"/>
            <a:ext cx="6502284" cy="17333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 i="1">
                <a:solidFill>
                  <a:srgbClr val="003057"/>
                </a:solidFill>
                <a:latin typeface="Roboto"/>
                <a:ea typeface="Roboto"/>
                <a:cs typeface="Roboto"/>
              </a:rPr>
              <a:t>Toroidal plasma chamber of tokamak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C948CB4-3F0E-8397-C9AB-F9DC2306ED15}"/>
              </a:ext>
            </a:extLst>
          </p:cNvPr>
          <p:cNvSpPr/>
          <p:nvPr/>
        </p:nvSpPr>
        <p:spPr>
          <a:xfrm>
            <a:off x="33527022" y="12051111"/>
            <a:ext cx="5307912" cy="150489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800" i="1">
                <a:solidFill>
                  <a:srgbClr val="003057"/>
                </a:solidFill>
                <a:latin typeface="Roboto"/>
                <a:ea typeface="Roboto"/>
                <a:cs typeface="Roboto"/>
              </a:rPr>
              <a:t>Solution simulation via MFEM</a:t>
            </a:r>
          </a:p>
        </p:txBody>
      </p:sp>
      <p:sp>
        <p:nvSpPr>
          <p:cNvPr id="128" name="Arrow: Right 127">
            <a:extLst>
              <a:ext uri="{FF2B5EF4-FFF2-40B4-BE49-F238E27FC236}">
                <a16:creationId xmlns:a16="http://schemas.microsoft.com/office/drawing/2014/main" id="{2B27ECE7-92FF-1807-2A6D-5A44046EAFD2}"/>
              </a:ext>
            </a:extLst>
          </p:cNvPr>
          <p:cNvSpPr/>
          <p:nvPr/>
        </p:nvSpPr>
        <p:spPr>
          <a:xfrm>
            <a:off x="21749285" y="9258065"/>
            <a:ext cx="1619324" cy="248628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19177C6B-5DD5-5C93-D7C0-29695972FED8}"/>
              </a:ext>
            </a:extLst>
          </p:cNvPr>
          <p:cNvSpPr/>
          <p:nvPr/>
        </p:nvSpPr>
        <p:spPr>
          <a:xfrm>
            <a:off x="29123124" y="9294114"/>
            <a:ext cx="604325" cy="841828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B3D14E8-99B1-3B5A-80E1-1BCD8BADD58D}"/>
              </a:ext>
            </a:extLst>
          </p:cNvPr>
          <p:cNvCxnSpPr>
            <a:cxnSpLocks/>
            <a:stCxn id="129" idx="0"/>
            <a:endCxn id="131" idx="0"/>
          </p:cNvCxnSpPr>
          <p:nvPr/>
        </p:nvCxnSpPr>
        <p:spPr>
          <a:xfrm flipV="1">
            <a:off x="29425287" y="8550896"/>
            <a:ext cx="6508064" cy="743218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3A6E6876-B026-9F2B-F77B-546635378786}"/>
              </a:ext>
            </a:extLst>
          </p:cNvPr>
          <p:cNvSpPr/>
          <p:nvPr/>
        </p:nvSpPr>
        <p:spPr>
          <a:xfrm>
            <a:off x="35501296" y="8550896"/>
            <a:ext cx="864110" cy="129022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47BC080C-2A45-0AFF-6262-BA506C0E6413}"/>
              </a:ext>
            </a:extLst>
          </p:cNvPr>
          <p:cNvCxnSpPr>
            <a:cxnSpLocks/>
            <a:stCxn id="129" idx="4"/>
            <a:endCxn id="131" idx="4"/>
          </p:cNvCxnSpPr>
          <p:nvPr/>
        </p:nvCxnSpPr>
        <p:spPr>
          <a:xfrm flipV="1">
            <a:off x="29425287" y="9841116"/>
            <a:ext cx="6508064" cy="294826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B3E6B48-EE23-8598-DAA8-547B0C06A12F}"/>
              </a:ext>
            </a:extLst>
          </p:cNvPr>
          <p:cNvCxnSpPr>
            <a:cxnSpLocks/>
          </p:cNvCxnSpPr>
          <p:nvPr/>
        </p:nvCxnSpPr>
        <p:spPr>
          <a:xfrm flipV="1">
            <a:off x="35974876" y="7657883"/>
            <a:ext cx="2144413" cy="15235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F637992E-5002-D869-0F18-0F6361B03CE6}"/>
              </a:ext>
            </a:extLst>
          </p:cNvPr>
          <p:cNvSpPr/>
          <p:nvPr/>
        </p:nvSpPr>
        <p:spPr>
          <a:xfrm>
            <a:off x="37400160" y="6379527"/>
            <a:ext cx="4423763" cy="20046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Plasma inside the toroidal chamber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8377E5D-1AD7-AFBD-0929-5CC49BC85211}"/>
              </a:ext>
            </a:extLst>
          </p:cNvPr>
          <p:cNvCxnSpPr>
            <a:cxnSpLocks/>
          </p:cNvCxnSpPr>
          <p:nvPr/>
        </p:nvCxnSpPr>
        <p:spPr>
          <a:xfrm>
            <a:off x="36827268" y="9893899"/>
            <a:ext cx="1364093" cy="5971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0985AF51-F2C1-F1F1-D793-E74F38ED3F2D}"/>
              </a:ext>
            </a:extLst>
          </p:cNvPr>
          <p:cNvSpPr/>
          <p:nvPr/>
        </p:nvSpPr>
        <p:spPr>
          <a:xfrm>
            <a:off x="38008920" y="10268852"/>
            <a:ext cx="3766130" cy="8162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Magnetic coils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16EA9068-00DC-BA0C-8F80-CE3E605FE164}"/>
              </a:ext>
            </a:extLst>
          </p:cNvPr>
          <p:cNvSpPr/>
          <p:nvPr/>
        </p:nvSpPr>
        <p:spPr>
          <a:xfrm>
            <a:off x="38263786" y="8652152"/>
            <a:ext cx="4494933" cy="135876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3600">
                <a:solidFill>
                  <a:srgbClr val="003057"/>
                </a:solidFill>
                <a:latin typeface="Roboto"/>
                <a:ea typeface="Roboto"/>
                <a:cs typeface="Roboto"/>
              </a:rPr>
              <a:t>Toroidal chamber and first wall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6D5703B-F341-39F4-A9F1-6A887BF91C2A}"/>
              </a:ext>
            </a:extLst>
          </p:cNvPr>
          <p:cNvCxnSpPr>
            <a:cxnSpLocks/>
          </p:cNvCxnSpPr>
          <p:nvPr/>
        </p:nvCxnSpPr>
        <p:spPr>
          <a:xfrm>
            <a:off x="36343853" y="9258065"/>
            <a:ext cx="2449336" cy="32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7CF0C99-0595-54F5-35AB-A534458CF451}"/>
              </a:ext>
            </a:extLst>
          </p:cNvPr>
          <p:cNvCxnSpPr>
            <a:cxnSpLocks/>
          </p:cNvCxnSpPr>
          <p:nvPr/>
        </p:nvCxnSpPr>
        <p:spPr>
          <a:xfrm flipV="1">
            <a:off x="35933351" y="11028629"/>
            <a:ext cx="2185938" cy="227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2" name="Picture 151">
            <a:extLst>
              <a:ext uri="{FF2B5EF4-FFF2-40B4-BE49-F238E27FC236}">
                <a16:creationId xmlns:a16="http://schemas.microsoft.com/office/drawing/2014/main" id="{D8B7ADA8-7E9B-ABDD-55E1-AF4DB525A1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32588" y="22305218"/>
            <a:ext cx="3168441" cy="524888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FB206F65-5326-5932-707D-1AE0816FD5DD}"/>
              </a:ext>
            </a:extLst>
          </p:cNvPr>
          <p:cNvSpPr txBox="1"/>
          <p:nvPr/>
        </p:nvSpPr>
        <p:spPr>
          <a:xfrm>
            <a:off x="18435658" y="20508809"/>
            <a:ext cx="877926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Generate a standard rectangular mesh and interpolate the solution onto it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22947A4B-E97B-3AD9-C646-61709DEE193A}"/>
              </a:ext>
            </a:extLst>
          </p:cNvPr>
          <p:cNvSpPr/>
          <p:nvPr/>
        </p:nvSpPr>
        <p:spPr>
          <a:xfrm>
            <a:off x="635192" y="18874432"/>
            <a:ext cx="42769303" cy="1311324"/>
          </a:xfrm>
          <a:prstGeom prst="roundRect">
            <a:avLst/>
          </a:prstGeom>
          <a:solidFill>
            <a:srgbClr val="BFB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Current Work: Using G-EQDSK file format, develop and integrate an EFIT writer (code used to reconstruct plasma equilibrium solutions) into MFEM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BD800B0-C9F8-A760-9A69-52AD6E5A8185}"/>
              </a:ext>
            </a:extLst>
          </p:cNvPr>
          <p:cNvSpPr txBox="1"/>
          <p:nvPr/>
        </p:nvSpPr>
        <p:spPr>
          <a:xfrm>
            <a:off x="8547100" y="20835585"/>
            <a:ext cx="83703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Identify and isolate the plasma region</a:t>
            </a:r>
          </a:p>
        </p:txBody>
      </p:sp>
      <p:sp>
        <p:nvSpPr>
          <p:cNvPr id="164" name="Arrow: Right 163">
            <a:extLst>
              <a:ext uri="{FF2B5EF4-FFF2-40B4-BE49-F238E27FC236}">
                <a16:creationId xmlns:a16="http://schemas.microsoft.com/office/drawing/2014/main" id="{CD90875E-B5D0-8170-EB69-A02227EF7318}"/>
              </a:ext>
            </a:extLst>
          </p:cNvPr>
          <p:cNvSpPr/>
          <p:nvPr/>
        </p:nvSpPr>
        <p:spPr>
          <a:xfrm>
            <a:off x="17134346" y="24813250"/>
            <a:ext cx="951538" cy="30514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F96DD3B-2FF6-3E71-B4F5-4C8B53622C5C}"/>
              </a:ext>
            </a:extLst>
          </p:cNvPr>
          <p:cNvSpPr txBox="1"/>
          <p:nvPr/>
        </p:nvSpPr>
        <p:spPr>
          <a:xfrm>
            <a:off x="36286736" y="20746605"/>
            <a:ext cx="67089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Build EFIT writer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49237D3-5F28-8F7A-85DE-7FC89470D56F}"/>
              </a:ext>
            </a:extLst>
          </p:cNvPr>
          <p:cNvSpPr txBox="1"/>
          <p:nvPr/>
        </p:nvSpPr>
        <p:spPr>
          <a:xfrm>
            <a:off x="36255423" y="22762888"/>
            <a:ext cx="500552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Compute additional necessary values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272A30C-DD34-AB45-E08A-EB05AC0FD200}"/>
              </a:ext>
            </a:extLst>
          </p:cNvPr>
          <p:cNvSpPr txBox="1"/>
          <p:nvPr/>
        </p:nvSpPr>
        <p:spPr>
          <a:xfrm>
            <a:off x="37682431" y="25285704"/>
            <a:ext cx="518384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Output the metrics, with proper GEQDSK formation, to an exportable text file</a:t>
            </a:r>
          </a:p>
        </p:txBody>
      </p:sp>
      <p:pic>
        <p:nvPicPr>
          <p:cNvPr id="170" name="Graphic 169" descr="Document with solid fill">
            <a:extLst>
              <a:ext uri="{FF2B5EF4-FFF2-40B4-BE49-F238E27FC236}">
                <a16:creationId xmlns:a16="http://schemas.microsoft.com/office/drawing/2014/main" id="{35776A6E-27D7-90C2-3137-824E4AFF679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314105" y="25669500"/>
            <a:ext cx="1694815" cy="1694815"/>
          </a:xfrm>
          <a:prstGeom prst="rect">
            <a:avLst/>
          </a:prstGeom>
        </p:spPr>
      </p:pic>
      <p:pic>
        <p:nvPicPr>
          <p:cNvPr id="172" name="Graphic 171" descr="Magnifying glass with solid fill">
            <a:extLst>
              <a:ext uri="{FF2B5EF4-FFF2-40B4-BE49-F238E27FC236}">
                <a16:creationId xmlns:a16="http://schemas.microsoft.com/office/drawing/2014/main" id="{8356B508-2A16-28DB-B438-59058D5540E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783906">
            <a:off x="40946639" y="22456890"/>
            <a:ext cx="1530523" cy="1530523"/>
          </a:xfrm>
          <a:prstGeom prst="rect">
            <a:avLst/>
          </a:prstGeom>
        </p:spPr>
      </p:pic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56339BAA-3DF2-3699-F122-9BCA5A2622E8}"/>
              </a:ext>
            </a:extLst>
          </p:cNvPr>
          <p:cNvSpPr/>
          <p:nvPr/>
        </p:nvSpPr>
        <p:spPr>
          <a:xfrm>
            <a:off x="34991088" y="24790495"/>
            <a:ext cx="951538" cy="30514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72D9841-5E54-1096-6B90-43901ED46214}"/>
              </a:ext>
            </a:extLst>
          </p:cNvPr>
          <p:cNvSpPr txBox="1"/>
          <p:nvPr/>
        </p:nvSpPr>
        <p:spPr>
          <a:xfrm>
            <a:off x="560945" y="28809791"/>
            <a:ext cx="427693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latin typeface="Roboto" panose="02000000000000000000" pitchFamily="2" charset="0"/>
                <a:ea typeface="Roboto" panose="02000000000000000000" pitchFamily="2" charset="0"/>
              </a:rPr>
              <a:t>Delivers a structured, portable set of key parameters for reproducing plasma equilibrium solutions, aligned with industry standards for easy sharing and integration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CA82F13-81B2-B165-E0B9-C386896CF3A8}"/>
              </a:ext>
            </a:extLst>
          </p:cNvPr>
          <p:cNvSpPr/>
          <p:nvPr/>
        </p:nvSpPr>
        <p:spPr>
          <a:xfrm>
            <a:off x="635193" y="4750615"/>
            <a:ext cx="11877998" cy="13642409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03E13F7-EBE2-1E2D-1EEA-A4AF64A3718B}"/>
              </a:ext>
            </a:extLst>
          </p:cNvPr>
          <p:cNvSpPr txBox="1"/>
          <p:nvPr/>
        </p:nvSpPr>
        <p:spPr>
          <a:xfrm>
            <a:off x="702912" y="5713120"/>
            <a:ext cx="11810279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800" kern="100">
                <a:latin typeface="Roboto"/>
                <a:ea typeface="Roboto"/>
                <a:cs typeface="Roboto"/>
              </a:rPr>
              <a:t>Plasma fusion: the process of charged particles colliding to releases energy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F2C72CD-4515-7BDF-0965-2F4490ED908C}"/>
              </a:ext>
            </a:extLst>
          </p:cNvPr>
          <p:cNvSpPr txBox="1"/>
          <p:nvPr/>
        </p:nvSpPr>
        <p:spPr>
          <a:xfrm>
            <a:off x="847910" y="7086290"/>
            <a:ext cx="2336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kern="100">
                <a:latin typeface="Roboto" panose="02000000000000000000" pitchFamily="2" charset="0"/>
                <a:ea typeface="Roboto" panose="02000000000000000000" pitchFamily="2" charset="0"/>
              </a:rPr>
              <a:t>Benefits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35447C4-9C09-8F77-A679-24579C49D38C}"/>
              </a:ext>
            </a:extLst>
          </p:cNvPr>
          <p:cNvSpPr txBox="1"/>
          <p:nvPr/>
        </p:nvSpPr>
        <p:spPr>
          <a:xfrm>
            <a:off x="2166183" y="7773646"/>
            <a:ext cx="100497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Low-impact energy generation</a:t>
            </a:r>
          </a:p>
        </p:txBody>
      </p:sp>
      <p:pic>
        <p:nvPicPr>
          <p:cNvPr id="95" name="Graphic 94" descr="Battery charging with solid fill">
            <a:extLst>
              <a:ext uri="{FF2B5EF4-FFF2-40B4-BE49-F238E27FC236}">
                <a16:creationId xmlns:a16="http://schemas.microsoft.com/office/drawing/2014/main" id="{C69B13C3-D374-4DCE-D468-A00B2D1C0AE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4832" y="7773646"/>
            <a:ext cx="705436" cy="748014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AB2A5CE2-0964-282A-98F5-48D4CAE3C3E8}"/>
              </a:ext>
            </a:extLst>
          </p:cNvPr>
          <p:cNvSpPr txBox="1"/>
          <p:nvPr/>
        </p:nvSpPr>
        <p:spPr>
          <a:xfrm>
            <a:off x="2133729" y="8667341"/>
            <a:ext cx="100497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Faster and longer-distance space travel</a:t>
            </a:r>
          </a:p>
        </p:txBody>
      </p:sp>
      <p:pic>
        <p:nvPicPr>
          <p:cNvPr id="98" name="Graphic 97" descr="Rocket with solid fill">
            <a:extLst>
              <a:ext uri="{FF2B5EF4-FFF2-40B4-BE49-F238E27FC236}">
                <a16:creationId xmlns:a16="http://schemas.microsoft.com/office/drawing/2014/main" id="{6ACB862B-D7E3-F005-5F22-72C43FB478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182599">
            <a:off x="1019312" y="8527889"/>
            <a:ext cx="914400" cy="91440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781912C2-9EC9-E9DB-B4DF-A1CD688211B5}"/>
              </a:ext>
            </a:extLst>
          </p:cNvPr>
          <p:cNvSpPr txBox="1"/>
          <p:nvPr/>
        </p:nvSpPr>
        <p:spPr>
          <a:xfrm>
            <a:off x="2129503" y="9587057"/>
            <a:ext cx="1042949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Scientific studies </a:t>
            </a:r>
          </a:p>
        </p:txBody>
      </p:sp>
      <p:pic>
        <p:nvPicPr>
          <p:cNvPr id="101" name="Graphic 100" descr="Books with solid fill">
            <a:extLst>
              <a:ext uri="{FF2B5EF4-FFF2-40B4-BE49-F238E27FC236}">
                <a16:creationId xmlns:a16="http://schemas.microsoft.com/office/drawing/2014/main" id="{653A4568-9854-7DAC-4F58-CA50FFDA7E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02322" y="9513571"/>
            <a:ext cx="856136" cy="856136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B9E97BF0-57E3-C257-E465-57AE2177CB09}"/>
              </a:ext>
            </a:extLst>
          </p:cNvPr>
          <p:cNvSpPr txBox="1"/>
          <p:nvPr/>
        </p:nvSpPr>
        <p:spPr>
          <a:xfrm>
            <a:off x="790356" y="10892793"/>
            <a:ext cx="2711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kern="100">
                <a:latin typeface="Roboto" panose="02000000000000000000" pitchFamily="2" charset="0"/>
                <a:ea typeface="Roboto" panose="02000000000000000000" pitchFamily="2" charset="0"/>
              </a:rPr>
              <a:t>Challenges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F75D836-F9D4-FB50-7465-9CEC0E3A5B96}"/>
              </a:ext>
            </a:extLst>
          </p:cNvPr>
          <p:cNvSpPr txBox="1"/>
          <p:nvPr/>
        </p:nvSpPr>
        <p:spPr>
          <a:xfrm>
            <a:off x="2062987" y="11597088"/>
            <a:ext cx="1027379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Develop devices that can contain and withstand high temperatures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4D4BC39-F6D4-C3B9-99FE-D56E994874B0}"/>
              </a:ext>
            </a:extLst>
          </p:cNvPr>
          <p:cNvSpPr txBox="1"/>
          <p:nvPr/>
        </p:nvSpPr>
        <p:spPr>
          <a:xfrm>
            <a:off x="2051487" y="13006966"/>
            <a:ext cx="10273794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800" kern="100">
                <a:latin typeface="Roboto"/>
                <a:ea typeface="Roboto"/>
                <a:cs typeface="Roboto"/>
              </a:rPr>
              <a:t>Plasma expands and cools—need to stabilize to keeps it hot and long enough for fusion</a:t>
            </a:r>
          </a:p>
        </p:txBody>
      </p:sp>
      <p:pic>
        <p:nvPicPr>
          <p:cNvPr id="108" name="Graphic 107" descr="Thermometer with solid fill">
            <a:extLst>
              <a:ext uri="{FF2B5EF4-FFF2-40B4-BE49-F238E27FC236}">
                <a16:creationId xmlns:a16="http://schemas.microsoft.com/office/drawing/2014/main" id="{5DFE4064-E670-DCDC-7D14-3A59B471C3C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3036" y="11732786"/>
            <a:ext cx="914400" cy="914400"/>
          </a:xfrm>
          <a:prstGeom prst="rect">
            <a:avLst/>
          </a:prstGeom>
        </p:spPr>
      </p:pic>
      <p:pic>
        <p:nvPicPr>
          <p:cNvPr id="110" name="Graphic 109" descr="Cylinder with solid fill">
            <a:extLst>
              <a:ext uri="{FF2B5EF4-FFF2-40B4-BE49-F238E27FC236}">
                <a16:creationId xmlns:a16="http://schemas.microsoft.com/office/drawing/2014/main" id="{39F48E77-CDE3-7118-B621-E939CE0C442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74216" y="13056048"/>
            <a:ext cx="914400" cy="1105933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6BF6FBA8-DE16-2038-45AA-19177AA66A01}"/>
              </a:ext>
            </a:extLst>
          </p:cNvPr>
          <p:cNvSpPr txBox="1"/>
          <p:nvPr/>
        </p:nvSpPr>
        <p:spPr>
          <a:xfrm>
            <a:off x="828773" y="14805527"/>
            <a:ext cx="4439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kern="100">
                <a:latin typeface="Roboto" panose="02000000000000000000" pitchFamily="2" charset="0"/>
                <a:ea typeface="Roboto" panose="02000000000000000000" pitchFamily="2" charset="0"/>
              </a:rPr>
              <a:t>Ongoing Efforts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43335C7-CCF0-B15C-7019-8D62B21144C0}"/>
              </a:ext>
            </a:extLst>
          </p:cNvPr>
          <p:cNvSpPr txBox="1"/>
          <p:nvPr/>
        </p:nvSpPr>
        <p:spPr>
          <a:xfrm>
            <a:off x="2068506" y="15458982"/>
            <a:ext cx="1004977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Magnetic Confinement: Trap plasma with strong magnetic fields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83BD441-9FCF-7843-F18C-BD2EFAA371AC}"/>
              </a:ext>
            </a:extLst>
          </p:cNvPr>
          <p:cNvSpPr txBox="1"/>
          <p:nvPr/>
        </p:nvSpPr>
        <p:spPr>
          <a:xfrm>
            <a:off x="2051487" y="16805992"/>
            <a:ext cx="1006679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Inertial Confinement: Uses lasers/beams for rapid compression of particles</a:t>
            </a:r>
          </a:p>
        </p:txBody>
      </p:sp>
      <p:pic>
        <p:nvPicPr>
          <p:cNvPr id="3" name="Graphic 2" descr="Magnet with solid fill">
            <a:extLst>
              <a:ext uri="{FF2B5EF4-FFF2-40B4-BE49-F238E27FC236}">
                <a16:creationId xmlns:a16="http://schemas.microsoft.com/office/drawing/2014/main" id="{445653AA-5CF6-916E-0586-4072BF3E708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36546" y="15666210"/>
            <a:ext cx="914400" cy="914400"/>
          </a:xfrm>
          <a:prstGeom prst="rect">
            <a:avLst/>
          </a:prstGeom>
        </p:spPr>
      </p:pic>
      <p:pic>
        <p:nvPicPr>
          <p:cNvPr id="5" name="Graphic 4" descr="Fast Forward with solid fill">
            <a:extLst>
              <a:ext uri="{FF2B5EF4-FFF2-40B4-BE49-F238E27FC236}">
                <a16:creationId xmlns:a16="http://schemas.microsoft.com/office/drawing/2014/main" id="{687582C9-8395-1BAB-0769-247B5FDC261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24921" y="16948971"/>
            <a:ext cx="914400" cy="914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C9C23A-98BF-C46F-A7E5-2E56EE36E444}"/>
              </a:ext>
            </a:extLst>
          </p:cNvPr>
          <p:cNvSpPr/>
          <p:nvPr/>
        </p:nvSpPr>
        <p:spPr>
          <a:xfrm>
            <a:off x="12975053" y="4750614"/>
            <a:ext cx="30280954" cy="13642409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8F6D03-9AEA-6B07-02A7-25BF722813AB}"/>
              </a:ext>
            </a:extLst>
          </p:cNvPr>
          <p:cNvSpPr/>
          <p:nvPr/>
        </p:nvSpPr>
        <p:spPr>
          <a:xfrm>
            <a:off x="635192" y="4767621"/>
            <a:ext cx="11877997" cy="912382"/>
          </a:xfrm>
          <a:prstGeom prst="roundRect">
            <a:avLst/>
          </a:prstGeom>
          <a:solidFill>
            <a:srgbClr val="BFB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State of the Art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B732CC-505B-6AB9-F8C8-4958A0480B80}"/>
              </a:ext>
            </a:extLst>
          </p:cNvPr>
          <p:cNvSpPr/>
          <p:nvPr/>
        </p:nvSpPr>
        <p:spPr>
          <a:xfrm>
            <a:off x="635192" y="18855037"/>
            <a:ext cx="42769303" cy="11066163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FE43EB-1AF1-1DF8-7263-C54FE93E7A4D}"/>
              </a:ext>
            </a:extLst>
          </p:cNvPr>
          <p:cNvSpPr/>
          <p:nvPr/>
        </p:nvSpPr>
        <p:spPr>
          <a:xfrm>
            <a:off x="8638456" y="21976823"/>
            <a:ext cx="8278996" cy="6119478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9DAF8-A888-7DD5-05DF-CA9936096569}"/>
              </a:ext>
            </a:extLst>
          </p:cNvPr>
          <p:cNvSpPr txBox="1"/>
          <p:nvPr/>
        </p:nvSpPr>
        <p:spPr>
          <a:xfrm>
            <a:off x="1024922" y="20551365"/>
            <a:ext cx="6164954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800" kern="100">
                <a:latin typeface="Roboto"/>
                <a:ea typeface="Roboto"/>
                <a:cs typeface="Roboto"/>
              </a:rPr>
              <a:t>Equilibrium solution on default triangular mesh</a:t>
            </a:r>
            <a:endParaRPr lang="en-US" sz="3800" kern="1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094316-E3A0-AC6E-E28D-86EFF292437B}"/>
              </a:ext>
            </a:extLst>
          </p:cNvPr>
          <p:cNvSpPr/>
          <p:nvPr/>
        </p:nvSpPr>
        <p:spPr>
          <a:xfrm>
            <a:off x="1140422" y="21981533"/>
            <a:ext cx="5866770" cy="6119478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C1EB5B-6E88-F221-B6AF-D5C4D5E2618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27715" y="22543878"/>
            <a:ext cx="2825079" cy="497751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CAE4D47-11A5-2957-76F5-D7F813C9B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50" y="22305218"/>
            <a:ext cx="3336711" cy="525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46843D-3A03-A840-4E13-343A74AAC269}"/>
              </a:ext>
            </a:extLst>
          </p:cNvPr>
          <p:cNvSpPr/>
          <p:nvPr/>
        </p:nvSpPr>
        <p:spPr>
          <a:xfrm>
            <a:off x="18436841" y="21987351"/>
            <a:ext cx="7890112" cy="6108950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9BDA79-AE2C-E1F8-01EC-76EFF52CF10D}"/>
              </a:ext>
            </a:extLst>
          </p:cNvPr>
          <p:cNvSpPr/>
          <p:nvPr/>
        </p:nvSpPr>
        <p:spPr>
          <a:xfrm>
            <a:off x="27985415" y="21987351"/>
            <a:ext cx="6708966" cy="6108950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DD8CA8-4F25-BE88-CBAD-C83353C7B168}"/>
              </a:ext>
            </a:extLst>
          </p:cNvPr>
          <p:cNvSpPr txBox="1"/>
          <p:nvPr/>
        </p:nvSpPr>
        <p:spPr>
          <a:xfrm>
            <a:off x="27985415" y="20436256"/>
            <a:ext cx="670896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Gather the needed EFIT parameters from MFEM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90CFA-0247-F72C-7601-10BF7A9913F2}"/>
              </a:ext>
            </a:extLst>
          </p:cNvPr>
          <p:cNvSpPr txBox="1"/>
          <p:nvPr/>
        </p:nvSpPr>
        <p:spPr>
          <a:xfrm>
            <a:off x="28339565" y="21806557"/>
            <a:ext cx="6050259" cy="6135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Computational grid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Magnetic axis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Plasma state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Plasma boundary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Poloidal current and flux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Safety factor</a:t>
            </a:r>
          </a:p>
          <a:p>
            <a:pPr algn="ctr">
              <a:lnSpc>
                <a:spcPct val="150000"/>
              </a:lnSpc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Limiter grid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04CBCC8-B599-45D4-74CD-624D0DE914E3}"/>
              </a:ext>
            </a:extLst>
          </p:cNvPr>
          <p:cNvSpPr/>
          <p:nvPr/>
        </p:nvSpPr>
        <p:spPr>
          <a:xfrm>
            <a:off x="7301221" y="24880068"/>
            <a:ext cx="951538" cy="30514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2A5A513-8954-1EC0-0EC8-E4507AA13D53}"/>
              </a:ext>
            </a:extLst>
          </p:cNvPr>
          <p:cNvSpPr/>
          <p:nvPr/>
        </p:nvSpPr>
        <p:spPr>
          <a:xfrm>
            <a:off x="26622467" y="24624519"/>
            <a:ext cx="951538" cy="30514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45920"/>
            <a:endParaRPr lang="en-US" sz="6480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98DE57-48DF-458D-F608-51DDCFD1F68D}"/>
              </a:ext>
            </a:extLst>
          </p:cNvPr>
          <p:cNvCxnSpPr>
            <a:cxnSpLocks/>
          </p:cNvCxnSpPr>
          <p:nvPr/>
        </p:nvCxnSpPr>
        <p:spPr>
          <a:xfrm>
            <a:off x="22094310" y="25070896"/>
            <a:ext cx="67454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C7B4961-E53D-DFE6-7011-16A78763094F}"/>
              </a:ext>
            </a:extLst>
          </p:cNvPr>
          <p:cNvSpPr/>
          <p:nvPr/>
        </p:nvSpPr>
        <p:spPr>
          <a:xfrm>
            <a:off x="36286736" y="21992621"/>
            <a:ext cx="6493220" cy="6103680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1A3E7A6-9EB4-54D1-8EDF-0090818B5291}"/>
              </a:ext>
            </a:extLst>
          </p:cNvPr>
          <p:cNvSpPr/>
          <p:nvPr/>
        </p:nvSpPr>
        <p:spPr>
          <a:xfrm>
            <a:off x="635191" y="30321687"/>
            <a:ext cx="42620816" cy="769442"/>
          </a:xfrm>
          <a:prstGeom prst="roundRect">
            <a:avLst/>
          </a:prstGeom>
          <a:solidFill>
            <a:srgbClr val="BFB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9184" tIns="164592" rIns="329184" bIns="16459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91840"/>
            <a:r>
              <a:rPr lang="en-US" sz="4400">
                <a:solidFill>
                  <a:srgbClr val="000000"/>
                </a:solidFill>
                <a:latin typeface="Roboto "/>
                <a:ea typeface="Roboto Slab"/>
                <a:cs typeface="Roboto Slab"/>
              </a:rPr>
              <a:t>Future Work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16E1D99-AEBB-3EAF-BD48-7494107D5287}"/>
              </a:ext>
            </a:extLst>
          </p:cNvPr>
          <p:cNvSpPr/>
          <p:nvPr/>
        </p:nvSpPr>
        <p:spPr>
          <a:xfrm>
            <a:off x="635191" y="30318665"/>
            <a:ext cx="42620816" cy="2157957"/>
          </a:xfrm>
          <a:prstGeom prst="roundRect">
            <a:avLst>
              <a:gd name="adj" fmla="val 4899"/>
            </a:avLst>
          </a:prstGeom>
          <a:noFill/>
          <a:ln>
            <a:solidFill>
              <a:srgbClr val="BFB3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431068-C9D4-D585-7C4F-DE394D91EE48}"/>
              </a:ext>
            </a:extLst>
          </p:cNvPr>
          <p:cNvSpPr txBox="1"/>
          <p:nvPr/>
        </p:nvSpPr>
        <p:spPr>
          <a:xfrm>
            <a:off x="32578868" y="14558749"/>
            <a:ext cx="67089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u="sng" kern="100">
                <a:latin typeface="Roboto" panose="02000000000000000000" pitchFamily="2" charset="0"/>
                <a:ea typeface="Roboto" panose="02000000000000000000" pitchFamily="2" charset="0"/>
              </a:rPr>
              <a:t>Equilibrium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E2E840-0962-D573-4D06-C880924B87C0}"/>
              </a:ext>
            </a:extLst>
          </p:cNvPr>
          <p:cNvSpPr txBox="1"/>
          <p:nvPr/>
        </p:nvSpPr>
        <p:spPr>
          <a:xfrm>
            <a:off x="16271278" y="14558749"/>
            <a:ext cx="67089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u="sng" kern="100">
                <a:latin typeface="Roboto" panose="02000000000000000000" pitchFamily="2" charset="0"/>
                <a:ea typeface="Roboto" panose="02000000000000000000" pitchFamily="2" charset="0"/>
              </a:rPr>
              <a:t>Free Boundary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A3CED1-4932-774D-7A24-522843B6CEEF}"/>
              </a:ext>
            </a:extLst>
          </p:cNvPr>
          <p:cNvSpPr txBox="1"/>
          <p:nvPr/>
        </p:nvSpPr>
        <p:spPr>
          <a:xfrm>
            <a:off x="16531077" y="31439263"/>
            <a:ext cx="117016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Continue development of ITER tokamak solutions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97E95D-2FCD-71BB-FA4D-DEF1C04CB279}"/>
              </a:ext>
            </a:extLst>
          </p:cNvPr>
          <p:cNvSpPr txBox="1"/>
          <p:nvPr/>
        </p:nvSpPr>
        <p:spPr>
          <a:xfrm>
            <a:off x="33527022" y="31439263"/>
            <a:ext cx="73172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Expand to other tokamaks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A3ED45-EC02-04C0-AA0F-DA6E744A4C45}"/>
              </a:ext>
            </a:extLst>
          </p:cNvPr>
          <p:cNvSpPr txBox="1"/>
          <p:nvPr/>
        </p:nvSpPr>
        <p:spPr>
          <a:xfrm>
            <a:off x="1741079" y="31439263"/>
            <a:ext cx="98045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800" kern="100">
                <a:latin typeface="Roboto" panose="02000000000000000000" pitchFamily="2" charset="0"/>
                <a:ea typeface="Roboto" panose="02000000000000000000" pitchFamily="2" charset="0"/>
              </a:rPr>
              <a:t>Test the GEQDSK file for potential errors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443BF9-168D-3680-DCFB-5351D113CB48}"/>
              </a:ext>
            </a:extLst>
          </p:cNvPr>
          <p:cNvSpPr/>
          <p:nvPr/>
        </p:nvSpPr>
        <p:spPr>
          <a:xfrm>
            <a:off x="12735840" y="22221473"/>
            <a:ext cx="3621760" cy="549566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DADB8F-45E0-BC65-3274-446008707D4D}"/>
              </a:ext>
            </a:extLst>
          </p:cNvPr>
          <p:cNvSpPr/>
          <p:nvPr/>
        </p:nvSpPr>
        <p:spPr>
          <a:xfrm>
            <a:off x="10083170" y="24575608"/>
            <a:ext cx="972228" cy="1524000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8DB47C3-830F-2AFD-DE68-C1B2096D48C9}"/>
              </a:ext>
            </a:extLst>
          </p:cNvPr>
          <p:cNvCxnSpPr>
            <a:cxnSpLocks/>
          </p:cNvCxnSpPr>
          <p:nvPr/>
        </p:nvCxnSpPr>
        <p:spPr>
          <a:xfrm flipV="1">
            <a:off x="10048775" y="22252126"/>
            <a:ext cx="2687065" cy="2323482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E125694-FCC3-7138-E418-C13AD50E468C}"/>
              </a:ext>
            </a:extLst>
          </p:cNvPr>
          <p:cNvCxnSpPr>
            <a:cxnSpLocks/>
          </p:cNvCxnSpPr>
          <p:nvPr/>
        </p:nvCxnSpPr>
        <p:spPr>
          <a:xfrm flipV="1">
            <a:off x="11055398" y="22303706"/>
            <a:ext cx="5300110" cy="2323482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C8F0810-385A-1C7C-F83B-FE4EF745CB03}"/>
              </a:ext>
            </a:extLst>
          </p:cNvPr>
          <p:cNvCxnSpPr>
            <a:cxnSpLocks/>
          </p:cNvCxnSpPr>
          <p:nvPr/>
        </p:nvCxnSpPr>
        <p:spPr>
          <a:xfrm>
            <a:off x="10110189" y="26120583"/>
            <a:ext cx="2607524" cy="1596556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3A3F82D-6900-D2CE-4684-7A1D09667D23}"/>
              </a:ext>
            </a:extLst>
          </p:cNvPr>
          <p:cNvCxnSpPr>
            <a:cxnSpLocks/>
          </p:cNvCxnSpPr>
          <p:nvPr/>
        </p:nvCxnSpPr>
        <p:spPr>
          <a:xfrm>
            <a:off x="11053306" y="26118054"/>
            <a:ext cx="5275870" cy="1585757"/>
          </a:xfrm>
          <a:prstGeom prst="line">
            <a:avLst/>
          </a:prstGeom>
          <a:ln w="3810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A0AA3B57-6E67-275B-8F80-40F007CF7637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822162" y="22308765"/>
            <a:ext cx="3449116" cy="5314111"/>
          </a:xfrm>
          <a:prstGeom prst="rect">
            <a:avLst/>
          </a:prstGeom>
        </p:spPr>
      </p:pic>
      <p:pic>
        <p:nvPicPr>
          <p:cNvPr id="24" name="Picture 23" descr="A qr code with dots&#10;&#10;AI-generated content may be incorrect.">
            <a:extLst>
              <a:ext uri="{FF2B5EF4-FFF2-40B4-BE49-F238E27FC236}">
                <a16:creationId xmlns:a16="http://schemas.microsoft.com/office/drawing/2014/main" id="{284355C4-B906-A64E-E05B-1B14B210EA5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0021844" y="321672"/>
            <a:ext cx="3076575" cy="30765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FA1810-BE3E-4656-A23C-8CC1A8BA4FAF}"/>
              </a:ext>
            </a:extLst>
          </p:cNvPr>
          <p:cNvSpPr txBox="1"/>
          <p:nvPr/>
        </p:nvSpPr>
        <p:spPr>
          <a:xfrm>
            <a:off x="39647421" y="3386703"/>
            <a:ext cx="3806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https://github.com/tangqi/mfem/tree/tds-gs/miniapps/gslib</a:t>
            </a:r>
          </a:p>
        </p:txBody>
      </p:sp>
    </p:spTree>
    <p:extLst>
      <p:ext uri="{BB962C8B-B14F-4D97-AF65-F5344CB8AC3E}">
        <p14:creationId xmlns:p14="http://schemas.microsoft.com/office/powerpoint/2010/main" val="66421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6" dur="236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01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120" grpId="0" animBg="1"/>
      <p:bldP spid="123" grpId="0"/>
      <p:bldP spid="124" grpId="0"/>
      <p:bldP spid="125" grpId="0"/>
      <p:bldP spid="126" grpId="0"/>
      <p:bldP spid="127" grpId="0"/>
      <p:bldP spid="128" grpId="0" animBg="1"/>
      <p:bldP spid="129" grpId="0" animBg="1"/>
      <p:bldP spid="131" grpId="0" animBg="1"/>
      <p:bldP spid="134" grpId="0"/>
      <p:bldP spid="136" grpId="0"/>
      <p:bldP spid="137" grpId="0"/>
      <p:bldP spid="153" grpId="0"/>
      <p:bldP spid="154" grpId="0" animBg="1"/>
      <p:bldP spid="160" grpId="0"/>
      <p:bldP spid="164" grpId="0" animBg="1"/>
      <p:bldP spid="165" grpId="0"/>
      <p:bldP spid="167" grpId="0"/>
      <p:bldP spid="168" grpId="0"/>
      <p:bldP spid="173" grpId="0" animBg="1"/>
      <p:bldP spid="175" grpId="0"/>
      <p:bldP spid="73" grpId="0" animBg="1"/>
      <p:bldP spid="90" grpId="0"/>
      <p:bldP spid="91" grpId="0"/>
      <p:bldP spid="92" grpId="0"/>
      <p:bldP spid="96" grpId="0"/>
      <p:bldP spid="99" grpId="0"/>
      <p:bldP spid="104" grpId="0"/>
      <p:bldP spid="105" grpId="0"/>
      <p:bldP spid="106" grpId="0"/>
      <p:bldP spid="112" grpId="0"/>
      <p:bldP spid="113" grpId="0"/>
      <p:bldP spid="114" grpId="0"/>
      <p:bldP spid="7" grpId="0" animBg="1"/>
      <p:bldP spid="9" grpId="0" animBg="1"/>
      <p:bldP spid="19" grpId="0" animBg="1"/>
      <p:bldP spid="2" grpId="0" animBg="1"/>
      <p:bldP spid="4" grpId="0"/>
      <p:bldP spid="10" grpId="0" animBg="1"/>
      <p:bldP spid="14" grpId="0" animBg="1"/>
      <p:bldP spid="15" grpId="0" animBg="1"/>
      <p:bldP spid="17" grpId="0"/>
      <p:bldP spid="18" grpId="0"/>
      <p:bldP spid="20" grpId="0" animBg="1"/>
      <p:bldP spid="21" grpId="0" animBg="1"/>
      <p:bldP spid="31" grpId="0" animBg="1"/>
      <p:bldP spid="33" grpId="0" animBg="1"/>
      <p:bldP spid="35" grpId="0" animBg="1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4CDE54F6-6007-2848-B683-2C1822FC5485}" vid="{C0D1DEBA-DE5C-9C46-9118-2685038DF7C3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CDE54F6-6007-2848-B683-2C1822FC5485}" vid="{FB47B6FD-F52A-2B42-851E-06D2988544C2}"/>
    </a:ext>
  </a:extLst>
</a:theme>
</file>

<file path=ppt/theme/theme3.xml><?xml version="1.0" encoding="utf-8"?>
<a:theme xmlns:a="http://schemas.openxmlformats.org/drawingml/2006/main" name="Content Page">
  <a:themeElements>
    <a:clrScheme name="GT Theme">
      <a:dk1>
        <a:srgbClr val="003057"/>
      </a:dk1>
      <a:lt1>
        <a:srgbClr val="FFFFFF"/>
      </a:lt1>
      <a:dk2>
        <a:srgbClr val="545859"/>
      </a:dk2>
      <a:lt2>
        <a:srgbClr val="D6DBD3"/>
      </a:lt2>
      <a:accent1>
        <a:srgbClr val="B3A369"/>
      </a:accent1>
      <a:accent2>
        <a:srgbClr val="003057"/>
      </a:accent2>
      <a:accent3>
        <a:srgbClr val="54585A"/>
      </a:accent3>
      <a:accent4>
        <a:srgbClr val="D6DBD4"/>
      </a:accent4>
      <a:accent5>
        <a:srgbClr val="F9F6E5"/>
      </a:accent5>
      <a:accent6>
        <a:srgbClr val="EAAA0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Tech_PPTtemplate_2021_wide" id="{E85096BA-033B-D848-B268-A76C8AE5D2A4}" vid="{C86BDF43-62E5-5C4C-BBB8-C9F54843079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48181dc-04a5-4b22-be41-37c89b61455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BAD6DF71F1AF49BF26F3C1EC4EF222" ma:contentTypeVersion="14" ma:contentTypeDescription="Create a new document." ma:contentTypeScope="" ma:versionID="0cb4f412f54baa8da3ecab5e579cbf30">
  <xsd:schema xmlns:xsd="http://www.w3.org/2001/XMLSchema" xmlns:xs="http://www.w3.org/2001/XMLSchema" xmlns:p="http://schemas.microsoft.com/office/2006/metadata/properties" xmlns:ns2="d48181dc-04a5-4b22-be41-37c89b614552" xmlns:ns3="259c7aa2-8d35-48a6-856f-562bf46f15e4" targetNamespace="http://schemas.microsoft.com/office/2006/metadata/properties" ma:root="true" ma:fieldsID="348da671f2ae328fa3c8a7ec60ce2088" ns2:_="" ns3:_="">
    <xsd:import namespace="d48181dc-04a5-4b22-be41-37c89b614552"/>
    <xsd:import namespace="259c7aa2-8d35-48a6-856f-562bf46f15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181dc-04a5-4b22-be41-37c89b6145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9c7aa2-8d35-48a6-856f-562bf46f15e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749EF1-4686-4A52-A4C9-85F7E6FF8B85}">
  <ds:schemaRefs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259c7aa2-8d35-48a6-856f-562bf46f15e4"/>
    <ds:schemaRef ds:uri="d48181dc-04a5-4b22-be41-37c89b614552"/>
  </ds:schemaRefs>
</ds:datastoreItem>
</file>

<file path=customXml/itemProps2.xml><?xml version="1.0" encoding="utf-8"?>
<ds:datastoreItem xmlns:ds="http://schemas.openxmlformats.org/officeDocument/2006/customXml" ds:itemID="{5D7D4DAA-EBD5-43A5-83B9-D1C0B690DE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CD0C7C-F656-4810-90ED-098F46E20875}">
  <ds:schemaRefs>
    <ds:schemaRef ds:uri="259c7aa2-8d35-48a6-856f-562bf46f15e4"/>
    <ds:schemaRef ds:uri="d48181dc-04a5-4b22-be41-37c89b6145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0</TotalTime>
  <Words>369</Words>
  <Application>Microsoft Macintosh PowerPoint</Application>
  <PresentationFormat>Custom</PresentationFormat>
  <Paragraphs>50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Wingdings</vt:lpstr>
      <vt:lpstr>Roboto Slab</vt:lpstr>
      <vt:lpstr>Roboto</vt:lpstr>
      <vt:lpstr>Aptos</vt:lpstr>
      <vt:lpstr>Arial</vt:lpstr>
      <vt:lpstr>Roboto </vt:lpstr>
      <vt:lpstr>Calibri</vt:lpstr>
      <vt:lpstr>Custom Design</vt:lpstr>
      <vt:lpstr>1_Custom Design</vt:lpstr>
      <vt:lpstr>Content Page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Presentation Here</dc:title>
  <dc:creator>Ralston, Carly</dc:creator>
  <cp:lastModifiedBy>Young, Jeffrey S</cp:lastModifiedBy>
  <cp:revision>3</cp:revision>
  <cp:lastPrinted>2025-07-29T03:49:40Z</cp:lastPrinted>
  <dcterms:created xsi:type="dcterms:W3CDTF">2021-10-12T20:50:53Z</dcterms:created>
  <dcterms:modified xsi:type="dcterms:W3CDTF">2025-07-31T19:40:53Z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0x010100CBBAD6DF71F1AF49BF26F3C1EC4EF222</vt:lpwstr>
  </property>
  <property fmtid="{D5CDD505-2E9C-101B-9397-08002B2CF9AE}" pid="3" name="MediaServiceImageTags">
    <vt:lpwstr/>
  </property>
</Properties>
</file>